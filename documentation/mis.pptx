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85" r:id="rId3"/>
    <p:sldId id="257" r:id="rId4"/>
    <p:sldId id="279" r:id="rId5"/>
    <p:sldId id="260" r:id="rId6"/>
    <p:sldId id="259" r:id="rId7"/>
    <p:sldId id="286" r:id="rId8"/>
    <p:sldId id="261" r:id="rId9"/>
    <p:sldId id="280" r:id="rId10"/>
    <p:sldId id="284" r:id="rId11"/>
    <p:sldId id="282" r:id="rId12"/>
    <p:sldId id="283" r:id="rId13"/>
    <p:sldId id="263" r:id="rId14"/>
    <p:sldId id="264" r:id="rId15"/>
  </p:sldIdLst>
  <p:sldSz cx="12192000" cy="6858000"/>
  <p:notesSz cx="6858000" cy="9144000"/>
  <p:defaultTextStyle>
    <a:defPPr lvl="0">
      <a:defRPr lang="en-US"/>
    </a:defPPr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3" autoAdjust="0"/>
    <p:restoredTop sz="94660"/>
  </p:normalViewPr>
  <p:slideViewPr>
    <p:cSldViewPr snapToGrid="0">
      <p:cViewPr varScale="1">
        <p:scale>
          <a:sx n="88" d="100"/>
          <a:sy n="88" d="100"/>
        </p:scale>
        <p:origin x="360" y="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CC9E53-B7E4-4902-A0AC-4EB6C425183C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9AF56A-2CBF-4093-82B2-3710848976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67179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B6F01D1-E705-4656-A918-71E0035DA6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6195289B-2362-4B48-9D76-97EB3244D7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90431EC-DCB7-41B7-96AB-60B432632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CDD5A-A699-464F-935D-C03B6C041462}" type="datetime1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D2B118E-9D59-4504-907C-DFBFDEB1E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Electronics &amp; Communication Engg., MANIT, Bhopal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9FCE964-3EC8-402F-8C86-DF82EF2CE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FAF6A-4925-4D1E-8078-ECEA644745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7271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4B617E5-754C-4FAF-AEB6-750961155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0C74B7E-33EE-4498-AF4D-83361322FA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0283E68-005B-46E0-89CF-CE80E55CD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C389C-E22E-4D2D-8A57-FFF16E88D45B}" type="datetime1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EF840E1-6AE7-408B-AF10-0F069D718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Electronics &amp; Communication Engg., MANIT, Bhopal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7E19B87-4FAF-412C-A681-5C603B9B0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FAF6A-4925-4D1E-8078-ECEA644745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2312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90CA4F6-BAD7-437C-B2A1-FEF7CE6D2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1EC43532-B905-4F80-BC98-AE0360CA81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0F31391-93CC-4B0D-AB03-D274C2D61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9C456-4C25-4490-BDB4-9B1579FF708A}" type="datetime1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48AC503-CEFC-42E8-8F67-32CEA6FB9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Electronics &amp; Communication Engg., MANIT, Bhopal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9B78CE0-2BB3-416C-94A4-7C83B3D91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FAF6A-4925-4D1E-8078-ECEA644745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03497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1749118-3DC1-45EB-A8AC-774D1886E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D22B2A5-9C57-4A49-9147-F065AE295B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D7223FCE-4166-4393-98BE-78E0D3CFB9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B46A550B-17FC-4172-8FE5-6B43BB40E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0925E-3D46-4931-8922-4553DFBFD276}" type="datetime1">
              <a:rPr lang="en-IN" smtClean="0"/>
              <a:t>04-05-2026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26344D6C-1922-4A3F-913E-49A85979D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Electronics &amp; Communication Engg., MANIT, Bhopal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40374925-56E1-4080-A20C-BD5222228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FAF6A-4925-4D1E-8078-ECEA644745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28857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202272B-DFD1-451E-8FB8-BC7AF7818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4D16EC6F-6FB0-4FC0-8C27-01FEB76CE3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DBC0CC5F-9BF2-4BE2-9CCC-27F9F2D535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2E27579F-09FB-4ACA-89E8-310DB7E698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5CDC63AC-5ECC-4465-A0E1-FE1D3289C4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E33877B6-2AF5-41C2-95ED-5972E7498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43382-936B-4139-9692-36A11D876D12}" type="datetime1">
              <a:rPr lang="en-IN" smtClean="0"/>
              <a:t>04-05-2026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3E088C15-E170-4B3F-A60A-B40FC33F1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Electronics &amp; Communication Engg., MANIT, Bhopal</a:t>
            </a:r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A771D98D-D9A8-4F80-B3FC-9AC34E548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FAF6A-4925-4D1E-8078-ECEA644745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65173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D973B47-26CD-41C0-B440-ECA8C9056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7B259091-F4C6-44AA-9665-38EAED537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47151-68CC-46FD-90D4-2F9390F25482}" type="datetime1">
              <a:rPr lang="en-IN" smtClean="0"/>
              <a:t>04-05-2026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CCE4C0E6-E1CD-481C-AC1A-F057C2F2B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Electronics &amp; Communication Engg., MANIT, Bhopal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87151EC9-868D-41B5-8BF2-880A6BEF3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FAF6A-4925-4D1E-8078-ECEA644745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67354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DF28A2DF-2791-4318-8FB1-C8B289F9D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9EC6F-B3BA-487C-BFC9-31F81D1507CC}" type="datetime1">
              <a:rPr lang="en-IN" smtClean="0"/>
              <a:t>04-05-2026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21B23D96-F124-4F4E-B723-F01DB5A0E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Electronics &amp; Communication Engg., MANIT, Bhopal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C8310B1F-92EA-4E9C-8AAC-FAC00DF9F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FAF6A-4925-4D1E-8078-ECEA644745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51735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AA2B63A-5EF1-4E81-A814-93E32DFAA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D016F1E-7236-46E2-8E55-1A4AC8E1DA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F49DAEC3-23D8-46BA-B4F2-B6F4E90B6F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24ED380B-872E-424F-BA59-858F12B7C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F5A7A-0A1A-481A-A66B-C9ABE28E858D}" type="datetime1">
              <a:rPr lang="en-IN" smtClean="0"/>
              <a:t>04-05-2026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374CCF02-25DC-4400-A051-271C90EE2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Electronics &amp; Communication Engg., MANIT, Bhopal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16A5EBFE-51C3-468C-ACC5-092444E89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FAF6A-4925-4D1E-8078-ECEA644745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41831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6B2CA53-BBA8-449D-9555-78EAA702C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0869DD1F-14DA-4F27-A8DC-136248AE8A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04D8B63F-DDC8-4C25-B898-EBC5DD921B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2B10297D-033B-4462-88F9-C81412DE7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6C4D7-A4F7-420F-94EF-A939A86D9E5B}" type="datetime1">
              <a:rPr lang="en-IN" smtClean="0"/>
              <a:t>04-05-2026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D0A579B9-41CC-4CB6-A965-F2CF9B6FB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Electronics &amp; Communication Engg., MANIT, Bhopal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34884E94-21EC-4769-A93E-5FB9611A4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FAF6A-4925-4D1E-8078-ECEA644745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43139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7E1F0E5-2249-4908-B7BD-28D897FD1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495F435F-9716-456B-ACD4-55D7786E5B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E9EF7EB-3A97-4C95-862D-8F8574668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271CD-C8D4-4421-8718-17F87F84FA88}" type="datetime1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174CC87-8732-444D-9F33-E8565D7B9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Electronics &amp; Communication Engg., MANIT, Bhopal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0740A40-A595-4A12-8BF5-ED5F06DE7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FAF6A-4925-4D1E-8078-ECEA644745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98150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71224B07-B1DB-49F3-8BA7-D4A8BDA62B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CE7C8B50-3BA6-42C1-85D8-DA8F33CB28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CF8B886-FB00-400A-8990-4F55A65CC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A7664-8265-4FC9-8741-04108820C3FE}" type="datetime1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ABB4D31-ACD5-4083-B33C-1A8D4D85B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Electronics &amp; Communication Engg., MANIT, Bhopal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AC1A380-0B01-490A-B410-A6A828BB3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FAF6A-4925-4D1E-8078-ECEA644745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8141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F6F98A44-5227-4C48-87DC-C67448FED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66592986-F64B-42E6-BE04-EC0B654061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B1E2F2A-4451-4F31-909A-199DEBBBFA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694C3D-1FB3-4030-85C3-22908444AF10}" type="datetime1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57A1C70-D465-4F1F-B8BB-DC271CB5A4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Department of Electronics &amp; Communication Engg., MANIT, Bhopal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D842A82-7D3C-4725-98C3-801D6C7243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6FAF6A-4925-4D1E-8078-ECEA644745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73178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  <p:sldLayoutId id="2147483779" r:id="rId5"/>
    <p:sldLayoutId id="2147483780" r:id="rId6"/>
    <p:sldLayoutId id="2147483781" r:id="rId7"/>
    <p:sldLayoutId id="2147483782" r:id="rId8"/>
    <p:sldLayoutId id="2147483783" r:id="rId9"/>
    <p:sldLayoutId id="2147483784" r:id="rId10"/>
    <p:sldLayoutId id="2147483785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BF9F7857-AC26-4304-B66E-73394F616961}"/>
              </a:ext>
            </a:extLst>
          </p:cNvPr>
          <p:cNvSpPr/>
          <p:nvPr/>
        </p:nvSpPr>
        <p:spPr>
          <a:xfrm>
            <a:off x="231006" y="384779"/>
            <a:ext cx="1173319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Structure-Aware Financial Forecasting using Hankel Matrices and Dual LSTM Fusion</a:t>
            </a:r>
            <a:endParaRPr lang="en-IN" sz="2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347B8CD9-3D1F-483D-BBEB-6A8D39DAF6DE}"/>
              </a:ext>
            </a:extLst>
          </p:cNvPr>
          <p:cNvSpPr/>
          <p:nvPr/>
        </p:nvSpPr>
        <p:spPr>
          <a:xfrm>
            <a:off x="7407374" y="3148349"/>
            <a:ext cx="353793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IN" sz="2400" b="1" dirty="0">
                <a:solidFill>
                  <a:srgbClr val="00B050"/>
                </a:solidFill>
                <a:latin typeface="Book Antiqua" panose="02040602050305030304" pitchFamily="18" charset="0"/>
                <a:cs typeface="Times New Roman" panose="02020603050405020304" pitchFamily="18" charset="0"/>
              </a:rPr>
              <a:t>Presented By: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FAF6A-4925-4D1E-8078-ECEA64474517}" type="slidenum">
              <a:rPr lang="en-IN" smtClean="0"/>
              <a:t>1</a:t>
            </a:fld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347B8CD9-3D1F-483D-BBEB-6A8D39DAF6DE}"/>
              </a:ext>
            </a:extLst>
          </p:cNvPr>
          <p:cNvSpPr/>
          <p:nvPr/>
        </p:nvSpPr>
        <p:spPr>
          <a:xfrm>
            <a:off x="541165" y="3725863"/>
            <a:ext cx="3846294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IN" sz="2000" b="1" dirty="0" smtClean="0">
                <a:latin typeface="Candara" panose="020E0502030303020204" pitchFamily="34" charset="0"/>
                <a:cs typeface="Times New Roman" panose="02020603050405020304" pitchFamily="18" charset="0"/>
              </a:rPr>
              <a:t>Mathematics for Intelligent Systems IV</a:t>
            </a:r>
            <a:endParaRPr lang="en-IN" sz="2000" b="1" dirty="0">
              <a:latin typeface="Candara" panose="020E0502030303020204" pitchFamily="34" charset="0"/>
              <a:cs typeface="Times New Roman" panose="02020603050405020304" pitchFamily="18" charset="0"/>
            </a:endParaRPr>
          </a:p>
          <a:p>
            <a:pPr lvl="0"/>
            <a:r>
              <a:rPr lang="en-IN" sz="2000" dirty="0" err="1" smtClean="0">
                <a:latin typeface="Candara" panose="020E0502030303020204" pitchFamily="34" charset="0"/>
                <a:cs typeface="Times New Roman" panose="02020603050405020304" pitchFamily="18" charset="0"/>
              </a:rPr>
              <a:t>Dr</a:t>
            </a:r>
            <a:r>
              <a:rPr lang="en-IN" sz="2000" dirty="0" err="1">
                <a:latin typeface="Candara" panose="020E0502030303020204" pitchFamily="34" charset="0"/>
                <a:cs typeface="Times New Roman" panose="02020603050405020304" pitchFamily="18" charset="0"/>
              </a:rPr>
              <a:t>.</a:t>
            </a:r>
            <a:r>
              <a:rPr lang="en-IN" sz="2000" dirty="0">
                <a:latin typeface="Candara" panose="020E0502030303020204" pitchFamily="34" charset="0"/>
                <a:cs typeface="Times New Roman" panose="02020603050405020304" pitchFamily="18" charset="0"/>
              </a:rPr>
              <a:t> </a:t>
            </a:r>
            <a:r>
              <a:rPr lang="en-IN" sz="2000" dirty="0" err="1" smtClean="0">
                <a:latin typeface="Candara" panose="020E0502030303020204" pitchFamily="34" charset="0"/>
                <a:cs typeface="Times New Roman" panose="02020603050405020304" pitchFamily="18" charset="0"/>
              </a:rPr>
              <a:t>Anirban</a:t>
            </a:r>
            <a:r>
              <a:rPr lang="en-IN" sz="2000" dirty="0" smtClean="0">
                <a:latin typeface="Candara" panose="020E0502030303020204" pitchFamily="34" charset="0"/>
                <a:cs typeface="Times New Roman" panose="02020603050405020304" pitchFamily="18" charset="0"/>
              </a:rPr>
              <a:t> </a:t>
            </a:r>
            <a:r>
              <a:rPr lang="en-IN" sz="2000" dirty="0" err="1" smtClean="0">
                <a:latin typeface="Candara" panose="020E0502030303020204" pitchFamily="34" charset="0"/>
                <a:cs typeface="Times New Roman" panose="02020603050405020304" pitchFamily="18" charset="0"/>
              </a:rPr>
              <a:t>Tarafdar</a:t>
            </a:r>
            <a:r>
              <a:rPr lang="en-IN" sz="2000" dirty="0" smtClean="0">
                <a:latin typeface="Candara" panose="020E0502030303020204" pitchFamily="34" charset="0"/>
                <a:cs typeface="Times New Roman" panose="02020603050405020304" pitchFamily="18" charset="0"/>
              </a:rPr>
              <a:t> (Assistant Professor)</a:t>
            </a:r>
            <a:endParaRPr lang="en-IN" sz="2000" dirty="0">
              <a:latin typeface="Candara" panose="020E0502030303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856363D2-DB0D-4A10-B437-643F7DD8D7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690498" y="3191821"/>
            <a:ext cx="2204923" cy="2204923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FF246CD6-8FEB-449A-9003-1A6A02E3DB5C}"/>
              </a:ext>
            </a:extLst>
          </p:cNvPr>
          <p:cNvSpPr/>
          <p:nvPr/>
        </p:nvSpPr>
        <p:spPr>
          <a:xfrm>
            <a:off x="0" y="5494960"/>
            <a:ext cx="12192000" cy="1260858"/>
          </a:xfrm>
          <a:prstGeom prst="rect">
            <a:avLst/>
          </a:prstGeom>
          <a:solidFill>
            <a:srgbClr val="A50021"/>
          </a:solidFill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endParaRPr lang="en-US" sz="500" b="1" dirty="0">
              <a:solidFill>
                <a:schemeClr val="bg1"/>
              </a:solidFill>
              <a:highlight>
                <a:srgbClr val="820019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lang="en-US" sz="2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AMRITA VISHWA VIDYAPEETHAM, DELHI NCR, FARIDABAD</a:t>
            </a:r>
            <a:endParaRPr lang="en-IN" sz="2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Artificial Intelligence &amp; Data Science (AIDS)</a:t>
            </a:r>
          </a:p>
          <a:p>
            <a:pPr lvl="0" algn="ctr">
              <a:lnSpc>
                <a:spcPct val="90000"/>
              </a:lnSpc>
              <a:spcBef>
                <a:spcPts val="1000"/>
              </a:spcBef>
            </a:pPr>
            <a:endParaRPr lang="en-IN" sz="500" b="1" dirty="0">
              <a:solidFill>
                <a:schemeClr val="bg1"/>
              </a:solidFill>
              <a:highlight>
                <a:srgbClr val="820019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55D2DAAE-74B7-4680-BB4D-D5C691249BAF}"/>
              </a:ext>
            </a:extLst>
          </p:cNvPr>
          <p:cNvSpPr/>
          <p:nvPr/>
        </p:nvSpPr>
        <p:spPr>
          <a:xfrm>
            <a:off x="7295529" y="4017756"/>
            <a:ext cx="4688739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/>
            <a:r>
              <a:rPr lang="en-IN" sz="2000" dirty="0" err="1" smtClean="0">
                <a:latin typeface="Candara" panose="020E0502030303020204" pitchFamily="34" charset="0"/>
                <a:cs typeface="Times New Roman" panose="02020603050405020304" pitchFamily="18" charset="0"/>
              </a:rPr>
              <a:t>Dhwanit</a:t>
            </a:r>
            <a:r>
              <a:rPr lang="en-IN" sz="2000" dirty="0" smtClean="0">
                <a:latin typeface="Candara" panose="020E0502030303020204" pitchFamily="34" charset="0"/>
                <a:cs typeface="Times New Roman" panose="02020603050405020304" pitchFamily="18" charset="0"/>
              </a:rPr>
              <a:t> Sharma (DL.AI.U4AID24111)</a:t>
            </a:r>
            <a:endParaRPr lang="en-IN" sz="2000" dirty="0">
              <a:latin typeface="Candara" panose="020E0502030303020204" pitchFamily="34" charset="0"/>
              <a:cs typeface="Times New Roman" panose="02020603050405020304" pitchFamily="18" charset="0"/>
            </a:endParaRPr>
          </a:p>
          <a:p>
            <a:pPr lvl="0" algn="just"/>
            <a:r>
              <a:rPr lang="en-IN" sz="2000" dirty="0" err="1" smtClean="0">
                <a:latin typeface="Candara" panose="020E0502030303020204" pitchFamily="34" charset="0"/>
                <a:cs typeface="Times New Roman" panose="02020603050405020304" pitchFamily="18" charset="0"/>
              </a:rPr>
              <a:t>Kanan</a:t>
            </a:r>
            <a:r>
              <a:rPr lang="en-IN" sz="2000" dirty="0" smtClean="0">
                <a:latin typeface="Candara" panose="020E0502030303020204" pitchFamily="34" charset="0"/>
                <a:cs typeface="Times New Roman" panose="02020603050405020304" pitchFamily="18" charset="0"/>
              </a:rPr>
              <a:t> </a:t>
            </a:r>
            <a:r>
              <a:rPr lang="en-IN" sz="2000" dirty="0" err="1" smtClean="0">
                <a:latin typeface="Candara" panose="020E0502030303020204" pitchFamily="34" charset="0"/>
                <a:cs typeface="Times New Roman" panose="02020603050405020304" pitchFamily="18" charset="0"/>
              </a:rPr>
              <a:t>Goel</a:t>
            </a:r>
            <a:r>
              <a:rPr lang="en-IN" sz="2000" dirty="0">
                <a:latin typeface="Candara" panose="020E0502030303020204" pitchFamily="34" charset="0"/>
                <a:cs typeface="Times New Roman" panose="02020603050405020304" pitchFamily="18" charset="0"/>
              </a:rPr>
              <a:t> (</a:t>
            </a:r>
            <a:r>
              <a:rPr lang="en-IN" sz="2000" dirty="0" smtClean="0">
                <a:latin typeface="Candara" panose="020E0502030303020204" pitchFamily="34" charset="0"/>
                <a:cs typeface="Times New Roman" panose="02020603050405020304" pitchFamily="18" charset="0"/>
              </a:rPr>
              <a:t>DL.AI.U4AID24017)</a:t>
            </a:r>
            <a:endParaRPr lang="en-IN" sz="2000" dirty="0">
              <a:latin typeface="Candara" panose="020E050203030302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IN" sz="2000" dirty="0" smtClean="0">
                <a:latin typeface="Candara" panose="020E0502030303020204" pitchFamily="34" charset="0"/>
                <a:cs typeface="Times New Roman" panose="02020603050405020304" pitchFamily="18" charset="0"/>
              </a:rPr>
              <a:t>Parkhi Mahajan </a:t>
            </a:r>
            <a:r>
              <a:rPr lang="en-IN" sz="2000" dirty="0">
                <a:latin typeface="Candara" panose="020E0502030303020204" pitchFamily="34" charset="0"/>
                <a:cs typeface="Times New Roman" panose="02020603050405020304" pitchFamily="18" charset="0"/>
              </a:rPr>
              <a:t>(</a:t>
            </a:r>
            <a:r>
              <a:rPr lang="en-IN" sz="2000" dirty="0" smtClean="0">
                <a:latin typeface="Candara" panose="020E0502030303020204" pitchFamily="34" charset="0"/>
                <a:cs typeface="Times New Roman" panose="02020603050405020304" pitchFamily="18" charset="0"/>
              </a:rPr>
              <a:t>DL.AI.U4AID24126)</a:t>
            </a:r>
            <a:endParaRPr lang="en-IN" sz="2000" dirty="0">
              <a:latin typeface="Candara" panose="020E050203030302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IN" sz="2000" dirty="0" err="1" smtClean="0">
                <a:latin typeface="Candara" panose="020E0502030303020204" pitchFamily="34" charset="0"/>
                <a:cs typeface="Times New Roman" panose="02020603050405020304" pitchFamily="18" charset="0"/>
              </a:rPr>
              <a:t>Punit</a:t>
            </a:r>
            <a:r>
              <a:rPr lang="en-IN" sz="2000" dirty="0" smtClean="0">
                <a:latin typeface="Candara" panose="020E0502030303020204" pitchFamily="34" charset="0"/>
                <a:cs typeface="Times New Roman" panose="02020603050405020304" pitchFamily="18" charset="0"/>
              </a:rPr>
              <a:t> Lohan (DL.AI.U4AID24127)</a:t>
            </a:r>
            <a:endParaRPr lang="en-IN" sz="2000" dirty="0">
              <a:latin typeface="Candara" panose="020E0502030303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411C5D32-BE35-4980-8AD8-4602B7073937}"/>
              </a:ext>
            </a:extLst>
          </p:cNvPr>
          <p:cNvSpPr/>
          <p:nvPr/>
        </p:nvSpPr>
        <p:spPr>
          <a:xfrm>
            <a:off x="229400" y="1692210"/>
            <a:ext cx="11733196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B.Tech (</a:t>
            </a:r>
            <a:r>
              <a:rPr lang="en-US" sz="2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AIDS)</a:t>
            </a:r>
            <a:endParaRPr lang="en-US" sz="2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UG-II </a:t>
            </a:r>
            <a:r>
              <a:rPr lang="en-US" sz="2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(IV-Semester</a:t>
            </a:r>
            <a:r>
              <a:rPr lang="en-US" sz="2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2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41165" y="3191821"/>
            <a:ext cx="30315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IN" sz="2400" b="1" dirty="0">
                <a:solidFill>
                  <a:srgbClr val="00B050"/>
                </a:solidFill>
                <a:latin typeface="Book Antiqua" panose="02040602050305030304" pitchFamily="18" charset="0"/>
                <a:cs typeface="Times New Roman" panose="02020603050405020304" pitchFamily="18" charset="0"/>
              </a:rPr>
              <a:t>Subject Coordinator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7235216" y="3663936"/>
            <a:ext cx="99347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just"/>
            <a:r>
              <a:rPr lang="en-IN" sz="2000" b="1" dirty="0">
                <a:latin typeface="Candara" panose="020E0502030303020204" pitchFamily="34" charset="0"/>
                <a:cs typeface="Times New Roman" panose="02020603050405020304" pitchFamily="18" charset="0"/>
              </a:rPr>
              <a:t>Team</a:t>
            </a:r>
            <a:r>
              <a:rPr lang="en-IN" sz="1600" b="1" dirty="0">
                <a:latin typeface="Candara" panose="020E0502030303020204" pitchFamily="34" charset="0"/>
                <a:cs typeface="Times New Roman" panose="02020603050405020304" pitchFamily="18" charset="0"/>
              </a:rPr>
              <a:t> </a:t>
            </a:r>
            <a:r>
              <a:rPr lang="en-IN" sz="2000" b="1" dirty="0">
                <a:latin typeface="Candara" panose="020E0502030303020204" pitchFamily="34" charset="0"/>
                <a:cs typeface="Times New Roman" panose="02020603050405020304" pitchFamily="18" charset="0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778622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FAF6A-4925-4D1E-8078-ECEA64474517}" type="slidenum">
              <a:rPr lang="en-IN" smtClean="0"/>
              <a:t>2</a:t>
            </a:fld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A2ED3DBC-22DE-4A82-AEE4-12319751E610}"/>
              </a:ext>
            </a:extLst>
          </p:cNvPr>
          <p:cNvSpPr/>
          <p:nvPr/>
        </p:nvSpPr>
        <p:spPr>
          <a:xfrm>
            <a:off x="285898" y="1104622"/>
            <a:ext cx="11662261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</a:t>
            </a:r>
            <a:r>
              <a:rPr lang="en-I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Novelty &amp; Contribution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project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Tools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Technologies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setup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 &amp; Future scope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References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CDEB24E1-EFE8-4D6C-A0BF-6C337B6CDBE1}"/>
              </a:ext>
            </a:extLst>
          </p:cNvPr>
          <p:cNvSpPr txBox="1"/>
          <p:nvPr/>
        </p:nvSpPr>
        <p:spPr>
          <a:xfrm>
            <a:off x="1141941" y="420286"/>
            <a:ext cx="61061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CONTENTS</a:t>
            </a:r>
            <a:endParaRPr kumimoji="0" lang="en-IN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xmlns="" id="{172D857B-6114-487D-901F-3BE3414CF24C}"/>
              </a:ext>
            </a:extLst>
          </p:cNvPr>
          <p:cNvGrpSpPr/>
          <p:nvPr/>
        </p:nvGrpSpPr>
        <p:grpSpPr>
          <a:xfrm>
            <a:off x="264160" y="1015735"/>
            <a:ext cx="11684000" cy="45719"/>
            <a:chOff x="680720" y="1391920"/>
            <a:chExt cx="10922000" cy="40640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xmlns="" id="{24BCFDA0-1B03-47DF-AE91-84DA533C967E}"/>
                </a:ext>
              </a:extLst>
            </p:cNvPr>
            <p:cNvCxnSpPr/>
            <p:nvPr/>
          </p:nvCxnSpPr>
          <p:spPr>
            <a:xfrm>
              <a:off x="680720" y="1391920"/>
              <a:ext cx="1090168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xmlns="" id="{AFF5372F-8F94-452E-A69C-686724A91017}"/>
                </a:ext>
              </a:extLst>
            </p:cNvPr>
            <p:cNvCxnSpPr/>
            <p:nvPr/>
          </p:nvCxnSpPr>
          <p:spPr>
            <a:xfrm>
              <a:off x="701040" y="1432560"/>
              <a:ext cx="1090168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xmlns="" id="{16CB7D16-D977-46B5-BBD4-054E93ACF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67014"/>
            <a:ext cx="12192000" cy="389106"/>
          </a:xfrm>
          <a:solidFill>
            <a:srgbClr val="820019"/>
          </a:solidFill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Artificial Intelligence and Data Science, Amruta Vishwa Vidyapeetham, Delhi NCR, Faridabad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xmlns="" id="{43F60880-C49B-4910-AA31-4A863CB772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869" y="44663"/>
            <a:ext cx="971072" cy="971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125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FAF6A-4925-4D1E-8078-ECEA64474517}" type="slidenum">
              <a:rPr lang="en-IN" smtClean="0"/>
              <a:t>3</a:t>
            </a:fld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A2ED3DBC-22DE-4A82-AEE4-12319751E610}"/>
              </a:ext>
            </a:extLst>
          </p:cNvPr>
          <p:cNvSpPr/>
          <p:nvPr/>
        </p:nvSpPr>
        <p:spPr>
          <a:xfrm>
            <a:off x="170869" y="1234431"/>
            <a:ext cx="11662261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itchFamily="18" charset="0"/>
              </a:rPr>
              <a:t>The Engineering Problem: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Forecasting financial time-series accurately is challenging due to noisy short-term fluctuations, long-term market dependencies, and hidden structural changes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Why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Matters: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forecasting methods often rely only on historical price values and fail under volatile market conditions. A structure-aware multi-scale system can improve forecasting robustness and reliability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Context: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financial markets are influenced by both asset-specific behavior and cross-market factors such as oil prices, currency rates, and crypto trends. Ignoring these interactions reduces prediction performance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  <a:endParaRPr lang="en-US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Calibri" panose="020F0502020204030204" pitchFamily="34" charset="0"/>
              <a:buChar char="⁻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Stock market prediction</a:t>
            </a:r>
          </a:p>
          <a:p>
            <a:pPr marL="800100" lvl="1" indent="-342900">
              <a:buFont typeface="Calibri" panose="020F0502020204030204" pitchFamily="34" charset="0"/>
              <a:buChar char="⁻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Risk management</a:t>
            </a:r>
          </a:p>
          <a:p>
            <a:pPr marL="800100" lvl="1" indent="-342900">
              <a:buFont typeface="Calibri" panose="020F0502020204030204" pitchFamily="34" charset="0"/>
              <a:buChar char="⁻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Portfolio optimization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Calibri" panose="020F0502020204030204" pitchFamily="34" charset="0"/>
              <a:buChar char="⁻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Multi-asset analytics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xmlns="" id="{172D857B-6114-487D-901F-3BE3414CF24C}"/>
              </a:ext>
            </a:extLst>
          </p:cNvPr>
          <p:cNvGrpSpPr/>
          <p:nvPr/>
        </p:nvGrpSpPr>
        <p:grpSpPr>
          <a:xfrm>
            <a:off x="264160" y="1015735"/>
            <a:ext cx="11684000" cy="45719"/>
            <a:chOff x="680720" y="1391920"/>
            <a:chExt cx="10922000" cy="40640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xmlns="" id="{24BCFDA0-1B03-47DF-AE91-84DA533C967E}"/>
                </a:ext>
              </a:extLst>
            </p:cNvPr>
            <p:cNvCxnSpPr/>
            <p:nvPr/>
          </p:nvCxnSpPr>
          <p:spPr>
            <a:xfrm>
              <a:off x="680720" y="1391920"/>
              <a:ext cx="1090168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xmlns="" id="{AFF5372F-8F94-452E-A69C-686724A91017}"/>
                </a:ext>
              </a:extLst>
            </p:cNvPr>
            <p:cNvCxnSpPr/>
            <p:nvPr/>
          </p:nvCxnSpPr>
          <p:spPr>
            <a:xfrm>
              <a:off x="701040" y="1432560"/>
              <a:ext cx="1090168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xmlns="" id="{16CB7D16-D977-46B5-BBD4-054E93ACF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67014"/>
            <a:ext cx="12192000" cy="389106"/>
          </a:xfrm>
          <a:solidFill>
            <a:srgbClr val="820019"/>
          </a:solidFill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Artificial Intelligence and Data Science, </a:t>
            </a:r>
            <a:r>
              <a:rPr lang="en-US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Amruta</a:t>
            </a:r>
            <a:r>
              <a:rPr lang="en-US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Vishwa Vidyapeetham, Delhi NCR, Faridabad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xmlns="" id="{43F60880-C49B-4910-AA31-4A863CB772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869" y="44663"/>
            <a:ext cx="971072" cy="97107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CDEB24E1-EFE8-4D6C-A0BF-6C337B6CDBE1}"/>
              </a:ext>
            </a:extLst>
          </p:cNvPr>
          <p:cNvSpPr txBox="1"/>
          <p:nvPr/>
        </p:nvSpPr>
        <p:spPr>
          <a:xfrm>
            <a:off x="1141941" y="415358"/>
            <a:ext cx="108222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Problem Statement</a:t>
            </a: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0222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E547DD2-DB07-A0D6-2477-3B29187D7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3BB1CF24-B971-CBFF-0568-D54310410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FAF6A-4925-4D1E-8078-ECEA64474517}" type="slidenum">
              <a:rPr lang="en-IN" smtClean="0"/>
              <a:t>4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5B0729FB-B169-BF4E-15A2-C21E69787699}"/>
              </a:ext>
            </a:extLst>
          </p:cNvPr>
          <p:cNvSpPr txBox="1"/>
          <p:nvPr/>
        </p:nvSpPr>
        <p:spPr>
          <a:xfrm>
            <a:off x="1180444" y="420286"/>
            <a:ext cx="977203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200" dirty="0"/>
              <a:t>Literature Review</a:t>
            </a:r>
            <a:endParaRPr kumimoji="0" lang="en-IN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xmlns="" id="{71586D3F-CFEB-588C-6A57-E6CA6C04CBF4}"/>
              </a:ext>
            </a:extLst>
          </p:cNvPr>
          <p:cNvGrpSpPr/>
          <p:nvPr/>
        </p:nvGrpSpPr>
        <p:grpSpPr>
          <a:xfrm>
            <a:off x="264160" y="1015735"/>
            <a:ext cx="11684000" cy="45719"/>
            <a:chOff x="680720" y="1391920"/>
            <a:chExt cx="10922000" cy="40640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xmlns="" id="{7A79684F-D9BF-C1FC-9FB2-66E7E479F2E8}"/>
                </a:ext>
              </a:extLst>
            </p:cNvPr>
            <p:cNvCxnSpPr/>
            <p:nvPr/>
          </p:nvCxnSpPr>
          <p:spPr>
            <a:xfrm>
              <a:off x="680720" y="1391920"/>
              <a:ext cx="1090168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xmlns="" id="{9FD9A56E-4F97-9A5C-1C8F-74CFF507ADBC}"/>
                </a:ext>
              </a:extLst>
            </p:cNvPr>
            <p:cNvCxnSpPr/>
            <p:nvPr/>
          </p:nvCxnSpPr>
          <p:spPr>
            <a:xfrm>
              <a:off x="701040" y="1432560"/>
              <a:ext cx="1090168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xmlns="" id="{7DC662D4-09F8-31FE-4DBC-9CCC617B3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67014"/>
            <a:ext cx="12192000" cy="389106"/>
          </a:xfrm>
          <a:solidFill>
            <a:srgbClr val="820019"/>
          </a:solidFill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Artificial Intelligence and Data Science, Amruta Vishwa Vidyapeetham, Delhi NCR, Faridabad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xmlns="" id="{1C7B746D-9102-FAC7-78A0-449051F882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869" y="44663"/>
            <a:ext cx="971072" cy="97107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4D75B423-21FE-AE93-5336-E547BBA30173}"/>
              </a:ext>
            </a:extLst>
          </p:cNvPr>
          <p:cNvSpPr txBox="1"/>
          <p:nvPr/>
        </p:nvSpPr>
        <p:spPr>
          <a:xfrm>
            <a:off x="365760" y="1126399"/>
            <a:ext cx="11560662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 1: Statistical Forecasting Models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Method: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Uses historical linear trends for prediction.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Limitation: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Poor performance in nonlinear volatile markets.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 2: Single LSTM Models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Method: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Uses sequential deep learning for time-series forecasting.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Limitation: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Learns only one feature scale and ignores macro dependencies.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 3: Black-Box Deep Models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Method: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Uses deep neural networks for prediction.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Limitation: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High complexity with low interpretability and no uncertainty estimation.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65760" y="4666968"/>
            <a:ext cx="657796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 of Existing Methods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joint modelling of short-term and long-term market dynamics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structural feature extraction from temporal patterns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uncertainty estimation for forecast reliability 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38085" y="4879022"/>
            <a:ext cx="441007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Gap: 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an integrated forecasting framework that combines multi-scale market features, structural time-series analysis, and confidence-aware prediction.</a:t>
            </a:r>
          </a:p>
        </p:txBody>
      </p:sp>
    </p:spTree>
    <p:extLst>
      <p:ext uri="{BB962C8B-B14F-4D97-AF65-F5344CB8AC3E}">
        <p14:creationId xmlns:p14="http://schemas.microsoft.com/office/powerpoint/2010/main" val="44861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FAF6A-4925-4D1E-8078-ECEA64474517}" type="slidenum">
              <a:rPr lang="en-IN" smtClean="0"/>
              <a:t>5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CDEB24E1-EFE8-4D6C-A0BF-6C337B6CDBE1}"/>
              </a:ext>
            </a:extLst>
          </p:cNvPr>
          <p:cNvSpPr txBox="1"/>
          <p:nvPr/>
        </p:nvSpPr>
        <p:spPr>
          <a:xfrm>
            <a:off x="1180444" y="420286"/>
            <a:ext cx="61061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200" dirty="0"/>
              <a:t>Objectives of the Project</a:t>
            </a:r>
            <a:endParaRPr kumimoji="0" lang="en-IN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xmlns="" id="{172D857B-6114-487D-901F-3BE3414CF24C}"/>
              </a:ext>
            </a:extLst>
          </p:cNvPr>
          <p:cNvGrpSpPr/>
          <p:nvPr/>
        </p:nvGrpSpPr>
        <p:grpSpPr>
          <a:xfrm>
            <a:off x="264160" y="1015735"/>
            <a:ext cx="11684000" cy="45719"/>
            <a:chOff x="680720" y="1391920"/>
            <a:chExt cx="10922000" cy="40640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xmlns="" id="{24BCFDA0-1B03-47DF-AE91-84DA533C967E}"/>
                </a:ext>
              </a:extLst>
            </p:cNvPr>
            <p:cNvCxnSpPr/>
            <p:nvPr/>
          </p:nvCxnSpPr>
          <p:spPr>
            <a:xfrm>
              <a:off x="680720" y="1391920"/>
              <a:ext cx="1090168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xmlns="" id="{AFF5372F-8F94-452E-A69C-686724A91017}"/>
                </a:ext>
              </a:extLst>
            </p:cNvPr>
            <p:cNvCxnSpPr/>
            <p:nvPr/>
          </p:nvCxnSpPr>
          <p:spPr>
            <a:xfrm>
              <a:off x="701040" y="1432560"/>
              <a:ext cx="1090168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xmlns="" id="{FB314557-CE86-4F11-8AB0-0FF019C94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67014"/>
            <a:ext cx="12192000" cy="389106"/>
          </a:xfrm>
          <a:solidFill>
            <a:srgbClr val="820019"/>
          </a:solidFill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Artificial Intelligence and Data Science, Amruta Vishwa Vidyapeetham, Delhi NCR, Faridabad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xmlns="" id="{669453CB-B78C-4457-AD4D-A05E8BA74E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869" y="44663"/>
            <a:ext cx="971072" cy="971072"/>
          </a:xfrm>
          <a:prstGeom prst="rect">
            <a:avLst/>
          </a:prstGeom>
        </p:spPr>
      </p:pic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584200" y="1579456"/>
            <a:ext cx="10769600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1: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extract micro and macro financial indicators from multi-asset datasets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2: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model structural patterns using Hankel matrices and Singular Value Decomposition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3: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dual-branch LSTM fusion model for forecasting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4: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estimate prediction uncertainty using Monte Carlo simulation.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3247887" y="4688269"/>
                <a:ext cx="4616648" cy="29924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𝑚𝑖𝑐𝑟𝑜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1−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</m:d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𝑐𝑟𝑜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𝑓𝑢𝑠𝑖𝑜𝑛</m:t>
                        </m:r>
                      </m:sub>
                    </m:sSub>
                  </m:oMath>
                </a14:m>
                <a:r>
                  <a:rPr lang="en-US" dirty="0" smtClean="0"/>
                  <a:t> 	</a:t>
                </a:r>
                <a:endParaRPr lang="en-US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7887" y="4688269"/>
                <a:ext cx="4616648" cy="299249"/>
              </a:xfrm>
              <a:prstGeom prst="rect">
                <a:avLst/>
              </a:prstGeom>
              <a:blipFill rotWithShape="0">
                <a:blip r:embed="rId3"/>
                <a:stretch>
                  <a:fillRect l="-1849" b="-306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BF600CE3-A9E8-3914-4A14-61F8238C3E22}"/>
              </a:ext>
            </a:extLst>
          </p:cNvPr>
          <p:cNvSpPr txBox="1"/>
          <p:nvPr/>
        </p:nvSpPr>
        <p:spPr>
          <a:xfrm>
            <a:off x="857979" y="4618186"/>
            <a:ext cx="24864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Training Objective:</a:t>
            </a:r>
            <a:endParaRPr lang="en-US" b="1" dirty="0"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963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FAF6A-4925-4D1E-8078-ECEA64474517}" type="slidenum">
              <a:rPr lang="en-IN" smtClean="0"/>
              <a:t>6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CDEB24E1-EFE8-4D6C-A0BF-6C337B6CDBE1}"/>
              </a:ext>
            </a:extLst>
          </p:cNvPr>
          <p:cNvSpPr txBox="1"/>
          <p:nvPr/>
        </p:nvSpPr>
        <p:spPr>
          <a:xfrm>
            <a:off x="1180444" y="420286"/>
            <a:ext cx="977203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200" dirty="0"/>
              <a:t>Proposed Methodology</a:t>
            </a:r>
            <a:endParaRPr kumimoji="0" lang="en-IN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xmlns="" id="{172D857B-6114-487D-901F-3BE3414CF24C}"/>
              </a:ext>
            </a:extLst>
          </p:cNvPr>
          <p:cNvGrpSpPr/>
          <p:nvPr/>
        </p:nvGrpSpPr>
        <p:grpSpPr>
          <a:xfrm>
            <a:off x="264160" y="1015735"/>
            <a:ext cx="11684000" cy="45719"/>
            <a:chOff x="680720" y="1391920"/>
            <a:chExt cx="10922000" cy="40640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xmlns="" id="{24BCFDA0-1B03-47DF-AE91-84DA533C967E}"/>
                </a:ext>
              </a:extLst>
            </p:cNvPr>
            <p:cNvCxnSpPr/>
            <p:nvPr/>
          </p:nvCxnSpPr>
          <p:spPr>
            <a:xfrm>
              <a:off x="680720" y="1391920"/>
              <a:ext cx="1090168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xmlns="" id="{AFF5372F-8F94-452E-A69C-686724A91017}"/>
                </a:ext>
              </a:extLst>
            </p:cNvPr>
            <p:cNvCxnSpPr/>
            <p:nvPr/>
          </p:nvCxnSpPr>
          <p:spPr>
            <a:xfrm>
              <a:off x="701040" y="1432560"/>
              <a:ext cx="1090168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xmlns="" id="{29250C7A-F039-43BA-807B-A2C20BBA9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67014"/>
            <a:ext cx="12192000" cy="389106"/>
          </a:xfrm>
          <a:solidFill>
            <a:srgbClr val="820019"/>
          </a:solidFill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Artificial Intelligence and Data Science, Amruta Vishwa Vidyapeetham, Delhi NCR, Faridabad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xmlns="" id="{85F080FF-9C64-4CA6-B9B8-6689260DCA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869" y="44663"/>
            <a:ext cx="971072" cy="97107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BF600CE3-A9E8-3914-4A14-61F8238C3E22}"/>
              </a:ext>
            </a:extLst>
          </p:cNvPr>
          <p:cNvSpPr txBox="1"/>
          <p:nvPr/>
        </p:nvSpPr>
        <p:spPr>
          <a:xfrm>
            <a:off x="183369" y="1131641"/>
            <a:ext cx="9221888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Step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– Data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Collection &amp; Preprocessing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Collect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historical datasets for TCS, Bitcoin, Crude Oil, and USD/INR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Clean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align, normalize, and merge multi-asset data.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Step 2 – Feature Extraction 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Generate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 indicators and macro correlation features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Step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– Structural Modeling (Hankel + SVD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Construct Hankel matrix from each windowed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segment.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Apply Singular Value Decomposition (SVD).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Compute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structural feature vector (ratio, entropy, rank proxy) using singular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value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spectrum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Step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–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Model Development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Train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dual LSTM branches and fuse outputs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future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structural-state forecasting.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5 –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Uncertainty Estimation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Apply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Monte Carlo dropout to generate confidence bands and assess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reliability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7054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FAF6A-4925-4D1E-8078-ECEA64474517}" type="slidenum">
              <a:rPr lang="en-IN" smtClean="0"/>
              <a:t>7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CDEB24E1-EFE8-4D6C-A0BF-6C337B6CDBE1}"/>
              </a:ext>
            </a:extLst>
          </p:cNvPr>
          <p:cNvSpPr txBox="1"/>
          <p:nvPr/>
        </p:nvSpPr>
        <p:spPr>
          <a:xfrm>
            <a:off x="1180444" y="420286"/>
            <a:ext cx="977203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200" dirty="0"/>
              <a:t>Proposed Methodology</a:t>
            </a:r>
            <a:endParaRPr kumimoji="0" lang="en-IN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xmlns="" id="{172D857B-6114-487D-901F-3BE3414CF24C}"/>
              </a:ext>
            </a:extLst>
          </p:cNvPr>
          <p:cNvGrpSpPr/>
          <p:nvPr/>
        </p:nvGrpSpPr>
        <p:grpSpPr>
          <a:xfrm>
            <a:off x="264160" y="1015735"/>
            <a:ext cx="11684000" cy="45719"/>
            <a:chOff x="680720" y="1391920"/>
            <a:chExt cx="10922000" cy="40640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xmlns="" id="{24BCFDA0-1B03-47DF-AE91-84DA533C967E}"/>
                </a:ext>
              </a:extLst>
            </p:cNvPr>
            <p:cNvCxnSpPr/>
            <p:nvPr/>
          </p:nvCxnSpPr>
          <p:spPr>
            <a:xfrm>
              <a:off x="680720" y="1391920"/>
              <a:ext cx="1090168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xmlns="" id="{AFF5372F-8F94-452E-A69C-686724A91017}"/>
                </a:ext>
              </a:extLst>
            </p:cNvPr>
            <p:cNvCxnSpPr/>
            <p:nvPr/>
          </p:nvCxnSpPr>
          <p:spPr>
            <a:xfrm>
              <a:off x="701040" y="1432560"/>
              <a:ext cx="1090168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xmlns="" id="{29250C7A-F039-43BA-807B-A2C20BBA9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67014"/>
            <a:ext cx="12192000" cy="389106"/>
          </a:xfrm>
          <a:solidFill>
            <a:srgbClr val="820019"/>
          </a:solidFill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Artificial Intelligence and Data Science, Amruta Vishwa Vidyapeetham, Delhi NCR, Faridabad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xmlns="" id="{85F080FF-9C64-4CA6-B9B8-6689260DCA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869" y="44663"/>
            <a:ext cx="971072" cy="971072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485"/>
          <a:stretch/>
        </p:blipFill>
        <p:spPr>
          <a:xfrm>
            <a:off x="1640856" y="1497874"/>
            <a:ext cx="9466646" cy="4729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490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FAF6A-4925-4D1E-8078-ECEA64474517}" type="slidenum">
              <a:rPr lang="en-IN" smtClean="0"/>
              <a:t>8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CDEB24E1-EFE8-4D6C-A0BF-6C337B6CDBE1}"/>
              </a:ext>
            </a:extLst>
          </p:cNvPr>
          <p:cNvSpPr txBox="1"/>
          <p:nvPr/>
        </p:nvSpPr>
        <p:spPr>
          <a:xfrm>
            <a:off x="1180444" y="430960"/>
            <a:ext cx="93961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200" dirty="0"/>
              <a:t>Tools &amp; Technologies</a:t>
            </a:r>
            <a:endParaRPr kumimoji="0" lang="en-IN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xmlns="" id="{172D857B-6114-487D-901F-3BE3414CF24C}"/>
              </a:ext>
            </a:extLst>
          </p:cNvPr>
          <p:cNvGrpSpPr/>
          <p:nvPr/>
        </p:nvGrpSpPr>
        <p:grpSpPr>
          <a:xfrm>
            <a:off x="264160" y="1015735"/>
            <a:ext cx="11684000" cy="45719"/>
            <a:chOff x="680720" y="1391920"/>
            <a:chExt cx="10922000" cy="40640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xmlns="" id="{24BCFDA0-1B03-47DF-AE91-84DA533C967E}"/>
                </a:ext>
              </a:extLst>
            </p:cNvPr>
            <p:cNvCxnSpPr/>
            <p:nvPr/>
          </p:nvCxnSpPr>
          <p:spPr>
            <a:xfrm>
              <a:off x="680720" y="1391920"/>
              <a:ext cx="1090168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xmlns="" id="{AFF5372F-8F94-452E-A69C-686724A91017}"/>
                </a:ext>
              </a:extLst>
            </p:cNvPr>
            <p:cNvCxnSpPr/>
            <p:nvPr/>
          </p:nvCxnSpPr>
          <p:spPr>
            <a:xfrm>
              <a:off x="701040" y="1432560"/>
              <a:ext cx="1090168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26DDDB2C-2E5E-4C7E-AC6C-BFBF3AB412CF}"/>
              </a:ext>
            </a:extLst>
          </p:cNvPr>
          <p:cNvSpPr txBox="1"/>
          <p:nvPr/>
        </p:nvSpPr>
        <p:spPr>
          <a:xfrm>
            <a:off x="264160" y="1164134"/>
            <a:ext cx="11385856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Python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3.x for implementation and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Scientific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Computing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NumPy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numerical computations and array operations 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Pandas —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handling and feature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Scikit-learn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 and evaluation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metrics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Learning: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Dual LSTM model development and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optimization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Visualization: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Matplotlib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plotting forecasting trends and uncertainty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bands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Mathematical Techniques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Hankel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Matrix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 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Singular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Decomposition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 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Adam Optimization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 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Monte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Carlo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Dropout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xmlns="" id="{B9C29719-C192-4010-8F70-EBE1E066F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67014"/>
            <a:ext cx="12192000" cy="389106"/>
          </a:xfrm>
          <a:solidFill>
            <a:srgbClr val="820019"/>
          </a:solidFill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Artificial Intelligence and Data Science, Amruta Vishwa Vidyapeetham, Delhi NCR, Faridabad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xmlns="" id="{219E0FE1-17DB-4035-B5FC-C05C4BD590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869" y="44663"/>
            <a:ext cx="971072" cy="971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544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C377A01-3FC2-02AD-0F54-55A22D26C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8006486B-C201-CB9D-3DF1-389481BB5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FAF6A-4925-4D1E-8078-ECEA64474517}" type="slidenum">
              <a:rPr lang="en-IN" smtClean="0"/>
              <a:t>9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60BF338B-A63F-DABC-08DF-F29DF264C816}"/>
              </a:ext>
            </a:extLst>
          </p:cNvPr>
          <p:cNvSpPr txBox="1"/>
          <p:nvPr/>
        </p:nvSpPr>
        <p:spPr>
          <a:xfrm>
            <a:off x="1180444" y="430960"/>
            <a:ext cx="93961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200" dirty="0"/>
              <a:t>Experimental </a:t>
            </a:r>
            <a:r>
              <a:rPr lang="en-US" sz="3200" dirty="0" smtClean="0"/>
              <a:t>Setup	</a:t>
            </a:r>
            <a:endParaRPr kumimoji="0" lang="en-IN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xmlns="" id="{96281D76-D098-2E8B-2BA8-9709BC4C8DA3}"/>
              </a:ext>
            </a:extLst>
          </p:cNvPr>
          <p:cNvGrpSpPr/>
          <p:nvPr/>
        </p:nvGrpSpPr>
        <p:grpSpPr>
          <a:xfrm>
            <a:off x="264160" y="1015735"/>
            <a:ext cx="11684000" cy="45719"/>
            <a:chOff x="680720" y="1391920"/>
            <a:chExt cx="10922000" cy="40640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xmlns="" id="{D8C36AEC-6261-BE10-32F8-54B4DB7737DD}"/>
                </a:ext>
              </a:extLst>
            </p:cNvPr>
            <p:cNvCxnSpPr/>
            <p:nvPr/>
          </p:nvCxnSpPr>
          <p:spPr>
            <a:xfrm>
              <a:off x="680720" y="1391920"/>
              <a:ext cx="1090168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xmlns="" id="{DE59306C-16D9-7821-7A5F-2073B4078566}"/>
                </a:ext>
              </a:extLst>
            </p:cNvPr>
            <p:cNvCxnSpPr/>
            <p:nvPr/>
          </p:nvCxnSpPr>
          <p:spPr>
            <a:xfrm>
              <a:off x="701040" y="1432560"/>
              <a:ext cx="1090168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DDBD2D5C-C6D1-769B-5974-5806BB1499E4}"/>
              </a:ext>
            </a:extLst>
          </p:cNvPr>
          <p:cNvSpPr txBox="1"/>
          <p:nvPr/>
        </p:nvSpPr>
        <p:spPr>
          <a:xfrm>
            <a:off x="149131" y="1122044"/>
            <a:ext cx="11777291" cy="5416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Dataset Description</a:t>
            </a:r>
          </a:p>
          <a:p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historical financial datasets were collected from multiple market domains to capture both micro and</a:t>
            </a:r>
          </a:p>
          <a:p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macro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influences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Tata Consultancy Services (TCS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equity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BTC/USD (</a:t>
            </a:r>
            <a:r>
              <a:rPr lang="en-US" sz="16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Binance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cryptocurrency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dynamics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Crude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Oil WTI 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Futures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global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commodity movement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USD/INR Exchange 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Rate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forex market</a:t>
            </a:r>
            <a:endPara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Sample Size: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All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datasets were temporally aligned and merged into a unified multi-asset time-series after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preprocessing.</a:t>
            </a:r>
            <a:b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1554</a:t>
            </a:r>
            <a:r>
              <a:rPr lang="en-US" sz="16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synchronized observations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obtained after preprocessing, cleaning, and common-date alignment across all asset datasets.</a:t>
            </a:r>
            <a:endPara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 Environment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Python-based implementation using </a:t>
            </a:r>
            <a:r>
              <a:rPr lang="en-US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deep learning framework.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Multi-scale sequential training performed using CPU/GPU execution.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Preprocessing, feature extraction, and forecasting pipeline executed offline.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Model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Sequence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 for LSTM input: 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  <a:endPara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Train-test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split: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80% / 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20%</a:t>
            </a:r>
            <a:endPara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Dual-branch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LSTM architecture for micro and macro feature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learning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Dense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fusion layer for final forecast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generation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Monte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Carlo dropout enabled for uncertainty estimation</a:t>
            </a: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xmlns="" id="{1F0ACA74-3033-CBD0-EBD9-C3FAB6F16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67014"/>
            <a:ext cx="12192000" cy="389106"/>
          </a:xfrm>
          <a:solidFill>
            <a:srgbClr val="820019"/>
          </a:solidFill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Artificial Intelligence and Data Science, Amruta Vishwa Vidyapeetham, Delhi NCR, Faridabad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xmlns="" id="{8B636DCE-6850-3706-1E53-D330CB51E6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869" y="44663"/>
            <a:ext cx="971072" cy="971072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7619738" y="4961923"/>
            <a:ext cx="432842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Metrics</a:t>
            </a:r>
            <a:endPara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Mean Squared Error (MSE)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Root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 Squared Error (RMSE)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Trend Accuracy</a:t>
            </a:r>
          </a:p>
        </p:txBody>
      </p:sp>
    </p:spTree>
    <p:extLst>
      <p:ext uri="{BB962C8B-B14F-4D97-AF65-F5344CB8AC3E}">
        <p14:creationId xmlns:p14="http://schemas.microsoft.com/office/powerpoint/2010/main" val="1279204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A294038-EDEA-48A0-BE94-DFD0F39A3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8DE5E39D-C17C-0547-F8D7-F6096FF71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FAF6A-4925-4D1E-8078-ECEA64474517}" type="slidenum">
              <a:rPr lang="en-IN" smtClean="0"/>
              <a:t>10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E193D674-41D8-4EA1-D6AC-5B9A8B761D85}"/>
              </a:ext>
            </a:extLst>
          </p:cNvPr>
          <p:cNvSpPr txBox="1"/>
          <p:nvPr/>
        </p:nvSpPr>
        <p:spPr>
          <a:xfrm>
            <a:off x="1180444" y="430960"/>
            <a:ext cx="93961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200" dirty="0" smtClean="0"/>
              <a:t>Results</a:t>
            </a:r>
            <a:endParaRPr kumimoji="0" lang="en-IN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xmlns="" id="{0AB18A85-B1A5-598B-B916-6C5E766A0BB5}"/>
              </a:ext>
            </a:extLst>
          </p:cNvPr>
          <p:cNvGrpSpPr/>
          <p:nvPr/>
        </p:nvGrpSpPr>
        <p:grpSpPr>
          <a:xfrm>
            <a:off x="264160" y="1015735"/>
            <a:ext cx="11684000" cy="45719"/>
            <a:chOff x="680720" y="1391920"/>
            <a:chExt cx="10922000" cy="40640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xmlns="" id="{6CED1E01-C70B-FAAB-D647-AAB962E22EE7}"/>
                </a:ext>
              </a:extLst>
            </p:cNvPr>
            <p:cNvCxnSpPr/>
            <p:nvPr/>
          </p:nvCxnSpPr>
          <p:spPr>
            <a:xfrm>
              <a:off x="680720" y="1391920"/>
              <a:ext cx="1090168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xmlns="" id="{5AFE0EEB-5C28-2786-34D8-D4EDCE87C976}"/>
                </a:ext>
              </a:extLst>
            </p:cNvPr>
            <p:cNvCxnSpPr/>
            <p:nvPr/>
          </p:nvCxnSpPr>
          <p:spPr>
            <a:xfrm>
              <a:off x="701040" y="1432560"/>
              <a:ext cx="1090168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xmlns="" id="{216359EC-3102-8F68-58F2-E4FFA206A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67014"/>
            <a:ext cx="12192000" cy="389106"/>
          </a:xfrm>
          <a:solidFill>
            <a:srgbClr val="820019"/>
          </a:solidFill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Artificial Intelligence and Data Science, Amruta Vishwa Vidyapeetham, Delhi NCR, Faridabad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xmlns="" id="{9AA8C519-12A8-34D7-71FF-CDEBCBD184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869" y="44663"/>
            <a:ext cx="971072" cy="971072"/>
          </a:xfrm>
          <a:prstGeom prst="rect">
            <a:avLst/>
          </a:prstGeom>
        </p:spPr>
      </p:pic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1091453" y="5143574"/>
            <a:ext cx="4932219" cy="1087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Quantitative Performance</a:t>
            </a:r>
          </a:p>
          <a:p>
            <a:pPr marL="742950" lvl="1" indent="-285750">
              <a:buFont typeface="Times New Roman" panose="02020603050405020304" pitchFamily="18" charset="0"/>
              <a:buChar char="‾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Mean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Squared Error (MSE):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0.03058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Times New Roman" panose="02020603050405020304" pitchFamily="18" charset="0"/>
              <a:buChar char="‾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Root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 Squared Error (RMSE):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0.17487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Times New Roman" panose="02020603050405020304" pitchFamily="18" charset="0"/>
              <a:buChar char="‾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Trend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Accuracy: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66.44%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883" y="1107173"/>
            <a:ext cx="3439148" cy="337522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63" r="1076" b="5247"/>
          <a:stretch/>
        </p:blipFill>
        <p:spPr>
          <a:xfrm>
            <a:off x="5721484" y="1107173"/>
            <a:ext cx="5297498" cy="22352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6283035" y="5143574"/>
            <a:ext cx="7100455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Observations</a:t>
            </a:r>
          </a:p>
          <a:p>
            <a:pPr marL="742950" lvl="1" indent="-285750">
              <a:buFont typeface="Times New Roman" panose="02020603050405020304" pitchFamily="18" charset="0"/>
              <a:buChar char="‾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Predicted sequence follows broad market direction.</a:t>
            </a:r>
          </a:p>
          <a:p>
            <a:pPr marL="742950" lvl="1" indent="-285750">
              <a:buFont typeface="Times New Roman" panose="02020603050405020304" pitchFamily="18" charset="0"/>
              <a:buChar char="‾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Short-term fluctuations require further tuning.</a:t>
            </a:r>
          </a:p>
          <a:p>
            <a:pPr marL="742950" lvl="1" indent="-285750">
              <a:buFont typeface="Times New Roman" panose="02020603050405020304" pitchFamily="18" charset="0"/>
              <a:buChar char="‾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Monte Carlo confidence band indicates predictive uncertainty.</a:t>
            </a:r>
          </a:p>
          <a:p>
            <a:pPr marL="742950" lvl="1" indent="-285750">
              <a:buFont typeface="Times New Roman" panose="02020603050405020304" pitchFamily="18" charset="0"/>
              <a:buChar char="‾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forecasting pipeline successfully validated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"/>
          <p:cNvSpPr>
            <a:spLocks noChangeArrowheads="1"/>
          </p:cNvSpPr>
          <p:nvPr/>
        </p:nvSpPr>
        <p:spPr bwMode="auto">
          <a:xfrm>
            <a:off x="656405" y="4458854"/>
            <a:ext cx="374010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Comparison of model forecast against actual financial sequence.</a:t>
            </a:r>
          </a:p>
        </p:txBody>
      </p:sp>
      <p:sp>
        <p:nvSpPr>
          <p:cNvPr id="18" name="Rectangle 2"/>
          <p:cNvSpPr>
            <a:spLocks noChangeArrowheads="1"/>
          </p:cNvSpPr>
          <p:nvPr/>
        </p:nvSpPr>
        <p:spPr bwMode="auto">
          <a:xfrm>
            <a:off x="6095291" y="3412300"/>
            <a:ext cx="711200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Forecast confidence band generated using Monte Carlo dropout.</a:t>
            </a:r>
          </a:p>
        </p:txBody>
      </p:sp>
    </p:spTree>
    <p:extLst>
      <p:ext uri="{BB962C8B-B14F-4D97-AF65-F5344CB8AC3E}">
        <p14:creationId xmlns:p14="http://schemas.microsoft.com/office/powerpoint/2010/main" val="4093728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C852C41-1074-2883-4738-AE97FEAA7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DCF6ACC2-694B-82B6-8632-3C8FD51D0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FAF6A-4925-4D1E-8078-ECEA64474517}" type="slidenum">
              <a:rPr lang="en-IN" smtClean="0"/>
              <a:t>11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A5FD0367-A764-D9DF-5CE9-41A65E18A3C3}"/>
              </a:ext>
            </a:extLst>
          </p:cNvPr>
          <p:cNvSpPr txBox="1"/>
          <p:nvPr/>
        </p:nvSpPr>
        <p:spPr>
          <a:xfrm>
            <a:off x="1235232" y="430960"/>
            <a:ext cx="93961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200" dirty="0"/>
              <a:t>Challenges</a:t>
            </a:r>
            <a:endParaRPr kumimoji="0" lang="en-IN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xmlns="" id="{61C24C13-9C5F-CA04-4016-D898B23360EE}"/>
              </a:ext>
            </a:extLst>
          </p:cNvPr>
          <p:cNvGrpSpPr/>
          <p:nvPr/>
        </p:nvGrpSpPr>
        <p:grpSpPr>
          <a:xfrm>
            <a:off x="264160" y="1015735"/>
            <a:ext cx="11684000" cy="45719"/>
            <a:chOff x="680720" y="1391920"/>
            <a:chExt cx="10922000" cy="40640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xmlns="" id="{3A7DAF47-B0A8-4001-C2EA-4D7096EF3F02}"/>
                </a:ext>
              </a:extLst>
            </p:cNvPr>
            <p:cNvCxnSpPr/>
            <p:nvPr/>
          </p:nvCxnSpPr>
          <p:spPr>
            <a:xfrm>
              <a:off x="680720" y="1391920"/>
              <a:ext cx="1090168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xmlns="" id="{A16DEDF8-2BE2-FEC2-30BC-D26661D2221D}"/>
                </a:ext>
              </a:extLst>
            </p:cNvPr>
            <p:cNvCxnSpPr/>
            <p:nvPr/>
          </p:nvCxnSpPr>
          <p:spPr>
            <a:xfrm>
              <a:off x="701040" y="1432560"/>
              <a:ext cx="1090168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38DE98D0-7FE5-1386-BCDF-EA749693F03C}"/>
              </a:ext>
            </a:extLst>
          </p:cNvPr>
          <p:cNvSpPr txBox="1"/>
          <p:nvPr/>
        </p:nvSpPr>
        <p:spPr>
          <a:xfrm>
            <a:off x="397163" y="1369150"/>
            <a:ext cx="11384933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Multi-Asset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Alignment: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Synchronizing stock, crypto, commodity, and currency datasets with common trading dates and missing-value handling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Avoiding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Underfitting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Preventing overly smooth or flat predictions while preserving generalization capability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Hyperparameter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Selection: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Choosing optimal sequence length, hidden units, learning rate, and dropout settings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Noisy Data: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Financial markets are highly stochastic, making pattern learning and stable forecasting difficult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Uncertainty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Calibration: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Ensuring Monte Carlo confidence bands realistically reflect forecast reliability.</a:t>
            </a: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xmlns="" id="{67DF8C31-B7B8-432B-0659-9C8B32CA0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67014"/>
            <a:ext cx="12192000" cy="389106"/>
          </a:xfrm>
          <a:solidFill>
            <a:srgbClr val="820019"/>
          </a:solidFill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Artificial Intelligence and Data Science, Amruta Vishwa Vidyapeetham, Delhi NCR, Faridabad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xmlns="" id="{3CA801F8-68C8-B0B6-E87A-DC523D364B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869" y="44663"/>
            <a:ext cx="971072" cy="971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97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487FEE9-347A-6032-ECC8-EDE6DA941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951C5848-B248-2351-7CC9-2DC5F5873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FAF6A-4925-4D1E-8078-ECEA64474517}" type="slidenum">
              <a:rPr lang="en-IN" smtClean="0"/>
              <a:t>12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FEC41C26-379A-C842-986F-F02F07FE7DF9}"/>
              </a:ext>
            </a:extLst>
          </p:cNvPr>
          <p:cNvSpPr txBox="1"/>
          <p:nvPr/>
        </p:nvSpPr>
        <p:spPr>
          <a:xfrm>
            <a:off x="1235232" y="430960"/>
            <a:ext cx="93961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200" dirty="0"/>
              <a:t>Conclusions &amp; Future </a:t>
            </a:r>
            <a:r>
              <a:rPr lang="en-US" sz="3200" dirty="0" smtClean="0"/>
              <a:t>Scope </a:t>
            </a:r>
            <a:endParaRPr kumimoji="0" lang="en-IN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xmlns="" id="{40B41292-1277-61EF-0626-12780F5B9709}"/>
              </a:ext>
            </a:extLst>
          </p:cNvPr>
          <p:cNvGrpSpPr/>
          <p:nvPr/>
        </p:nvGrpSpPr>
        <p:grpSpPr>
          <a:xfrm>
            <a:off x="264160" y="1015735"/>
            <a:ext cx="11684000" cy="45719"/>
            <a:chOff x="680720" y="1391920"/>
            <a:chExt cx="10922000" cy="40640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xmlns="" id="{D90C3F6E-8C05-4311-C706-DB31B9254C50}"/>
                </a:ext>
              </a:extLst>
            </p:cNvPr>
            <p:cNvCxnSpPr/>
            <p:nvPr/>
          </p:nvCxnSpPr>
          <p:spPr>
            <a:xfrm>
              <a:off x="680720" y="1391920"/>
              <a:ext cx="1090168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xmlns="" id="{2EF88D09-53BF-3D11-185B-6D2C9542A36F}"/>
                </a:ext>
              </a:extLst>
            </p:cNvPr>
            <p:cNvCxnSpPr/>
            <p:nvPr/>
          </p:nvCxnSpPr>
          <p:spPr>
            <a:xfrm>
              <a:off x="701040" y="1432560"/>
              <a:ext cx="1090168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9FBEAC71-D32E-FC7C-7FD3-DA3B1CB52D71}"/>
              </a:ext>
            </a:extLst>
          </p:cNvPr>
          <p:cNvSpPr txBox="1"/>
          <p:nvPr/>
        </p:nvSpPr>
        <p:spPr>
          <a:xfrm>
            <a:off x="396241" y="1369150"/>
            <a:ext cx="1138585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Summary of Work Completed: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 structure-aware multi-scale forecasting framework was developed using Hankel matrices and Dual LSTM fusion.</a:t>
            </a:r>
          </a:p>
          <a:p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Outcome: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Improved robustness through structural learning and multi-source data fusion.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Scopes: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Times New Roman" panose="02020603050405020304" pitchFamily="18" charset="0"/>
              <a:buChar char="⁃"/>
            </a:pP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Hyperparameter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optimization</a:t>
            </a:r>
          </a:p>
          <a:p>
            <a:pPr marL="800100" lvl="1" indent="-342900">
              <a:buFont typeface="Times New Roman" panose="02020603050405020304" pitchFamily="18" charset="0"/>
              <a:buChar char="⁃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 on larger real-world datasets</a:t>
            </a:r>
            <a:endParaRPr lang="en-US" sz="2000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Times New Roman" panose="02020603050405020304" pitchFamily="18" charset="0"/>
              <a:buChar char="⁃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forecasting</a:t>
            </a:r>
          </a:p>
          <a:p>
            <a:pPr marL="800100" lvl="1" indent="-342900">
              <a:buFont typeface="Times New Roman" panose="02020603050405020304" pitchFamily="18" charset="0"/>
              <a:buChar char="⁃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Attention based models</a:t>
            </a:r>
          </a:p>
          <a:p>
            <a:pPr marL="800100" lvl="1" indent="-342900">
              <a:buFont typeface="Times New Roman" panose="02020603050405020304" pitchFamily="18" charset="0"/>
              <a:buChar char="⁃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Explainable AI integration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xmlns="" id="{F46057C9-8D30-E9BC-3339-4EA0C5B04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67014"/>
            <a:ext cx="12192000" cy="389106"/>
          </a:xfrm>
          <a:solidFill>
            <a:srgbClr val="820019"/>
          </a:solidFill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Artificial Intelligence and Data Science, Amruta Vishwa Vidyapeetham, Delhi NCR, Faridabad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xmlns="" id="{2D6C487E-EA10-0DC5-748B-3D19CF0B4C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869" y="44663"/>
            <a:ext cx="971072" cy="971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51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FAF6A-4925-4D1E-8078-ECEA64474517}" type="slidenum">
              <a:rPr lang="en-IN" smtClean="0"/>
              <a:t>13</a:t>
            </a:fld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172286" y="1765381"/>
            <a:ext cx="1119892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[1] N. </a:t>
            </a:r>
            <a:r>
              <a:rPr lang="en-US" dirty="0" err="1"/>
              <a:t>Golyandina</a:t>
            </a:r>
            <a:r>
              <a:rPr lang="en-US" dirty="0"/>
              <a:t> and A. </a:t>
            </a:r>
            <a:r>
              <a:rPr lang="en-US" dirty="0" err="1"/>
              <a:t>Zhigljavsky</a:t>
            </a:r>
            <a:r>
              <a:rPr lang="en-US" dirty="0"/>
              <a:t>, </a:t>
            </a:r>
            <a:r>
              <a:rPr lang="en-US" i="1" dirty="0"/>
              <a:t>Singular Spectrum Analysis for Time Series</a:t>
            </a:r>
            <a:r>
              <a:rPr lang="en-US" dirty="0"/>
              <a:t>, Springer, 2013.</a:t>
            </a:r>
          </a:p>
          <a:p>
            <a:r>
              <a:rPr lang="en-US" dirty="0"/>
              <a:t>[2] S. </a:t>
            </a:r>
            <a:r>
              <a:rPr lang="en-US" dirty="0" err="1"/>
              <a:t>Hochreiter</a:t>
            </a:r>
            <a:r>
              <a:rPr lang="en-US" dirty="0"/>
              <a:t> and J. </a:t>
            </a:r>
            <a:r>
              <a:rPr lang="en-US" dirty="0" err="1"/>
              <a:t>Schmidhuber</a:t>
            </a:r>
            <a:r>
              <a:rPr lang="en-US" dirty="0"/>
              <a:t>, ‘Long Short-Term Memory,’ </a:t>
            </a:r>
            <a:r>
              <a:rPr lang="en-US" i="1" dirty="0"/>
              <a:t>Neural Computation</a:t>
            </a:r>
            <a:r>
              <a:rPr lang="en-US" dirty="0"/>
              <a:t>, vol. 9, no. 8, pp. 1735–1780, 1997.</a:t>
            </a:r>
          </a:p>
          <a:p>
            <a:r>
              <a:rPr lang="en-US" dirty="0"/>
              <a:t>[3] Y. Qin et al., ‘A Dual-Stage Attention-Based Recurrent Neural Network for Time Series Prediction,’ </a:t>
            </a:r>
            <a:r>
              <a:rPr lang="en-US" i="1" dirty="0"/>
              <a:t>IJCAI</a:t>
            </a:r>
            <a:r>
              <a:rPr lang="en-US" dirty="0"/>
              <a:t>, 2017.</a:t>
            </a:r>
          </a:p>
          <a:p>
            <a:r>
              <a:rPr lang="en-US" dirty="0"/>
              <a:t>[4] Y. Gal and Z. </a:t>
            </a:r>
            <a:r>
              <a:rPr lang="en-US" dirty="0" err="1"/>
              <a:t>Ghahramani</a:t>
            </a:r>
            <a:r>
              <a:rPr lang="en-US" dirty="0"/>
              <a:t>, ‘Dropout as a Bayesian Approximation: Representing Model Uncertainty in Deep Learning,’ </a:t>
            </a:r>
            <a:r>
              <a:rPr lang="en-US" i="1" dirty="0"/>
              <a:t>ICML</a:t>
            </a:r>
            <a:r>
              <a:rPr lang="en-US" dirty="0"/>
              <a:t>, 2016.</a:t>
            </a:r>
          </a:p>
          <a:p>
            <a:r>
              <a:rPr lang="en-US" dirty="0"/>
              <a:t>[5] R. J. Hyndman and G. </a:t>
            </a:r>
            <a:r>
              <a:rPr lang="en-US" dirty="0" err="1"/>
              <a:t>Athanasopoulos</a:t>
            </a:r>
            <a:r>
              <a:rPr lang="en-US" dirty="0"/>
              <a:t>, </a:t>
            </a:r>
            <a:r>
              <a:rPr lang="en-US" i="1" dirty="0"/>
              <a:t>Forecasting: Principles and Practice</a:t>
            </a:r>
            <a:r>
              <a:rPr lang="en-US" dirty="0"/>
              <a:t>, </a:t>
            </a:r>
            <a:r>
              <a:rPr lang="en-US" dirty="0" err="1"/>
              <a:t>OTexts</a:t>
            </a:r>
            <a:r>
              <a:rPr lang="en-US" dirty="0"/>
              <a:t>, 2018.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C0C30923-775B-4C23-911A-F794CB817EC5}"/>
              </a:ext>
            </a:extLst>
          </p:cNvPr>
          <p:cNvSpPr txBox="1"/>
          <p:nvPr/>
        </p:nvSpPr>
        <p:spPr>
          <a:xfrm>
            <a:off x="1141941" y="172292"/>
            <a:ext cx="1115915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000000"/>
                </a:solidFill>
              </a:defRPr>
            </a:pP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Times New Roman"/>
                <a:cs typeface="+mn-cs"/>
              </a:rPr>
              <a:t>References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Times New Roman"/>
                <a:cs typeface="+mn-cs"/>
              </a:rPr>
              <a:t>:</a:t>
            </a:r>
            <a:endParaRPr lang="en-US" sz="2800" dirty="0"/>
          </a:p>
          <a:p>
            <a:pPr marL="228600" marR="0" lvl="0" indent="-762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28600" algn="l"/>
                <a:tab pos="457200" algn="l"/>
              </a:tabLst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Times New Roman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56B13AAB-5FA3-4E7E-B8DD-DD0286BB53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600" y="901232"/>
            <a:ext cx="11565114" cy="164606"/>
          </a:xfrm>
          <a:prstGeom prst="rect">
            <a:avLst/>
          </a:prstGeom>
        </p:spPr>
      </p:pic>
      <p:sp>
        <p:nvSpPr>
          <p:cNvPr id="10" name="Footer Placeholder 3">
            <a:extLst>
              <a:ext uri="{FF2B5EF4-FFF2-40B4-BE49-F238E27FC236}">
                <a16:creationId xmlns:a16="http://schemas.microsoft.com/office/drawing/2014/main" xmlns="" id="{3710AE7D-6F6B-481B-BAF2-186D0C303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67014"/>
            <a:ext cx="12192000" cy="389106"/>
          </a:xfrm>
          <a:solidFill>
            <a:srgbClr val="820019"/>
          </a:solidFill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Artificial Intelligence and Data Science, Amruta Vishwa Vidyapeetham, Delhi NCR, Faridabad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0396D429-9211-43C3-BFD1-63D7E70319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286" y="-70039"/>
            <a:ext cx="971072" cy="971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590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FAF6A-4925-4D1E-8078-ECEA64474517}" type="slidenum">
              <a:rPr lang="en-IN" smtClean="0"/>
              <a:t>14</a:t>
            </a:fld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4088859" y="1896636"/>
            <a:ext cx="3294434" cy="1938992"/>
          </a:xfrm>
          <a:prstGeom prst="rect">
            <a:avLst/>
          </a:prstGeom>
        </p:spPr>
        <p:txBody>
          <a:bodyPr wrap="square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endParaRPr lang="en-US" sz="4000" b="1" cap="all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latin typeface="Times New Roman"/>
            </a:endParaRPr>
          </a:p>
          <a:p>
            <a:r>
              <a:rPr lang="en-US" sz="4000" b="1" cap="all" dirty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Times New Roman"/>
              </a:rPr>
              <a:t> Thank </a:t>
            </a:r>
          </a:p>
          <a:p>
            <a:r>
              <a:rPr lang="en-US" sz="4000" b="1" cap="all" dirty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Times New Roman"/>
              </a:rPr>
              <a:t>		You</a:t>
            </a:r>
            <a:endParaRPr lang="en-US" sz="4000" b="1" cap="all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xmlns="" id="{74949C26-9139-44BC-96A0-A9F2DE340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67014"/>
            <a:ext cx="12192000" cy="389106"/>
          </a:xfrm>
          <a:solidFill>
            <a:srgbClr val="820019"/>
          </a:solidFill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Artificial Intelligence and Data Science, Amruta Vishwa Vidyapeetham, Delhi NCR, Faridabad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9757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2160</TotalTime>
  <Words>1262</Words>
  <Application>Microsoft Office PowerPoint</Application>
  <PresentationFormat>Widescreen</PresentationFormat>
  <Paragraphs>196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Arial</vt:lpstr>
      <vt:lpstr>Book Antiqua</vt:lpstr>
      <vt:lpstr>Calibri</vt:lpstr>
      <vt:lpstr>Calibri Light</vt:lpstr>
      <vt:lpstr>Cambria Math</vt:lpstr>
      <vt:lpstr>Candara</vt:lpstr>
      <vt:lpstr>Courier New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Sakshi Ahuja</dc:creator>
  <cp:lastModifiedBy>Microsoft account</cp:lastModifiedBy>
  <cp:revision>63</cp:revision>
  <dcterms:modified xsi:type="dcterms:W3CDTF">2026-05-04T07:52:23Z</dcterms:modified>
</cp:coreProperties>
</file>